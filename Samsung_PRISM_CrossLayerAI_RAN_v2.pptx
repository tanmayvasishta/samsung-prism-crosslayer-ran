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farm14</c:v>
                  </c:pt>
                  <c:pt idx="1">
                    <c:v>farm16</c:v>
                  </c:pt>
                  <c:pt idx="2">
                    <c:v>farm18</c:v>
                  </c:pt>
                  <c:pt idx="3">
                    <c:v>farm19 (before)</c:v>
                  </c:pt>
                  <c:pt idx="4">
                    <c:v>farm19 (after)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</c:v>
                </c:pt>
                <c:pt idx="1">
                  <c:v>99.4</c:v>
                </c:pt>
                <c:pt idx="2">
                  <c:v>100</c:v>
                </c:pt>
                <c:pt idx="3">
                  <c:v>6.7</c:v>
                </c:pt>
                <c:pt idx="4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2A3A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16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CrossLayerAI-RAN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Infrastructure-Aware AI for Proactive RAN Performance Prediction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9144000" cy="45720"/>
          </a:xfrm>
          <a:prstGeom prst="rect">
            <a:avLst/>
          </a:prstGeom>
          <a:solidFill>
            <a:srgbClr val="3A4F8C"/>
          </a:solidFill>
          <a:ln w="12700">
            <a:solidFill>
              <a:srgbClr val="3A4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29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 Worklet  |  </a:t>
            </a:r>
            <a:pPr algn="l" indent="0" marL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B.M.S. College of Engineering  |  </a:t>
            </a:r>
            <a:pPr algn="l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Worklet ID: 26NCOAM02BMS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clusters fail silently — and traditional monitoring misses 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6583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 (Jefferson Lab) runs 300+ compute nodes across 5 hardware farms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anomalous event occurred on May 23, 2023 — unknown cause, unknown affected nodes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GB+ of Prometheus metrics collected (memory, SLURM, CPU, disk)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labels — no one tagged which nodes failed or when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threshold alerts are static — miss gradual degradation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detect the event purely from patterns in normal vs. anomalous data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0" y="1463040"/>
            <a:ext cx="2103120" cy="1371600"/>
          </a:xfrm>
          <a:prstGeom prst="rect">
            <a:avLst/>
          </a:prstGeom>
          <a:solidFill>
            <a:srgbClr val="0D1B4B"/>
          </a:solidFill>
          <a:ln w="317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06640" y="155448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GB+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406640" y="2258568"/>
            <a:ext cx="192024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Prometheus Data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0" y="2971800"/>
            <a:ext cx="2103120" cy="1371600"/>
          </a:xfrm>
          <a:prstGeom prst="rect">
            <a:avLst/>
          </a:prstGeom>
          <a:solidFill>
            <a:srgbClr val="0D1B4B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06640" y="306324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406640" y="3767328"/>
            <a:ext cx="192024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Nodes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0" y="4480560"/>
            <a:ext cx="2103120" cy="1371600"/>
          </a:xfrm>
          <a:prstGeom prst="rect">
            <a:avLst/>
          </a:prstGeom>
          <a:solidFill>
            <a:srgbClr val="0D1B4B"/>
          </a:solidFill>
          <a:ln w="317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06640" y="457200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406640" y="5276088"/>
            <a:ext cx="192024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Labels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601200" y="1463040"/>
            <a:ext cx="2103120" cy="1371600"/>
          </a:xfrm>
          <a:prstGeom prst="rect">
            <a:avLst/>
          </a:prstGeom>
          <a:solidFill>
            <a:srgbClr val="0D1B4B"/>
          </a:solidFill>
          <a:ln w="317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92640" y="155448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692640" y="2258568"/>
            <a:ext cx="192024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Farms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601200" y="2971800"/>
            <a:ext cx="2103120" cy="1371600"/>
          </a:xfrm>
          <a:prstGeom prst="rect">
            <a:avLst/>
          </a:prstGeom>
          <a:solidFill>
            <a:srgbClr val="0D1B4B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92640" y="306324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692640" y="3767328"/>
            <a:ext cx="192024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Modalities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01200" y="4480560"/>
            <a:ext cx="2103120" cy="1371600"/>
          </a:xfrm>
          <a:prstGeom prst="rect">
            <a:avLst/>
          </a:prstGeom>
          <a:solidFill>
            <a:srgbClr val="0D1B4B"/>
          </a:solidFill>
          <a:ln w="31750">
            <a:solidFill>
              <a:srgbClr val="E040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92640" y="457200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692640" y="5276088"/>
            <a:ext cx="192024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Event (May 23)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at a Glance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unsupervised anomaly detection — no labels required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606040" cy="1920240"/>
          </a:xfrm>
          <a:prstGeom prst="rect">
            <a:avLst/>
          </a:prstGeom>
          <a:solidFill>
            <a:srgbClr val="0D1B4B"/>
          </a:solidFill>
          <a:ln w="317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45920"/>
            <a:ext cx="242316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GB+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668219"/>
            <a:ext cx="2423160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processed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606040" cy="1920240"/>
          </a:xfrm>
          <a:prstGeom prst="rect">
            <a:avLst/>
          </a:prstGeom>
          <a:solidFill>
            <a:srgbClr val="0D1B4B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645920"/>
            <a:ext cx="242316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337560" y="2668219"/>
            <a:ext cx="2423160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engineered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606040" cy="1920240"/>
          </a:xfrm>
          <a:prstGeom prst="rect">
            <a:avLst/>
          </a:prstGeom>
          <a:solidFill>
            <a:srgbClr val="0D1B4B"/>
          </a:solidFill>
          <a:ln w="317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645920"/>
            <a:ext cx="242316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217920" y="2668219"/>
            <a:ext cx="2423160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per cluster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006840" y="1554480"/>
            <a:ext cx="2606040" cy="1920240"/>
          </a:xfrm>
          <a:prstGeom prst="rect">
            <a:avLst/>
          </a:prstGeom>
          <a:solidFill>
            <a:srgbClr val="0D1B4B"/>
          </a:solidFill>
          <a:ln w="317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98280" y="1645920"/>
            <a:ext cx="242316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098280" y="2668219"/>
            <a:ext cx="2423160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clusters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2606040" cy="1920240"/>
          </a:xfrm>
          <a:prstGeom prst="rect">
            <a:avLst/>
          </a:prstGeom>
          <a:solidFill>
            <a:srgbClr val="0D1B4B"/>
          </a:solidFill>
          <a:ln w="317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840480"/>
            <a:ext cx="242316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99–100%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457200" y="4862779"/>
            <a:ext cx="2423160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achieved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46120" y="3749040"/>
            <a:ext cx="2606040" cy="1920240"/>
          </a:xfrm>
          <a:prstGeom prst="rect">
            <a:avLst/>
          </a:prstGeom>
          <a:solidFill>
            <a:srgbClr val="0D1B4B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37560" y="3840480"/>
            <a:ext cx="242316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~0.01 ms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3337560" y="4862779"/>
            <a:ext cx="2423160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26480" y="3749040"/>
            <a:ext cx="2606040" cy="1920240"/>
          </a:xfrm>
          <a:prstGeom prst="rect">
            <a:avLst/>
          </a:prstGeom>
          <a:solidFill>
            <a:srgbClr val="0D1B4B"/>
          </a:solidFill>
          <a:ln w="31750">
            <a:solidFill>
              <a:srgbClr val="E040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3840480"/>
            <a:ext cx="242316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6217920" y="4862779"/>
            <a:ext cx="2423160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models saved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006840" y="3749040"/>
            <a:ext cx="2606040" cy="1920240"/>
          </a:xfrm>
          <a:prstGeom prst="rect">
            <a:avLst/>
          </a:prstGeom>
          <a:solidFill>
            <a:srgbClr val="0D1B4B"/>
          </a:solidFill>
          <a:ln w="317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098280" y="3840480"/>
            <a:ext cx="242316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9098280" y="4862779"/>
            <a:ext cx="2423160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labels used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JLab Computing Cluster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open dataset — Prometheus metrics, May 19–23 2023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01168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farm14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436K train rows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505 distress rows in test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20116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463040"/>
            <a:ext cx="201168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farm16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97480" y="2057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210K train rows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699 distress rows in test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51760" y="3063240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1463040"/>
            <a:ext cx="201168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83480" y="2057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458K train rows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distress rows in test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3063240"/>
            <a:ext cx="2011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1463040"/>
            <a:ext cx="201168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040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6948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farm19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69480" y="2057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590K train rows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6948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824 distress rows in test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23760" y="3063240"/>
            <a:ext cx="2011680" cy="73152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0" y="1463040"/>
            <a:ext cx="201168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55548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farm23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555480" y="2057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133K train rows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55548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distress rows in test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509760" y="3063240"/>
            <a:ext cx="20116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977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Modalities Used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365760" y="45262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526280"/>
            <a:ext cx="26517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617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memory_data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7200" y="50749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metrics, 1-min cadence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Resample: 1T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46120" y="45262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452628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4617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slurm_data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337560" y="50749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CPU alloc/idle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Event-driven, no resample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26480" y="45262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4526280"/>
            <a:ext cx="2651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4617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cpu_data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217920" y="50749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— zero May 23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scraping gap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006840" y="45262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06840" y="4526280"/>
            <a:ext cx="2651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98280" y="4617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disk_data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9098280" y="50749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— zero May 23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scraping gap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end-to-end pipeline — each stage preserves data integrity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1783080" cy="4206240"/>
          </a:xfrm>
          <a:prstGeom prst="rect">
            <a:avLst/>
          </a:prstGeom>
          <a:solidFill>
            <a:srgbClr val="0A1640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544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108960"/>
            <a:ext cx="12344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20040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junk cols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/ NaT removal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0" y="3383280"/>
            <a:ext cx="15544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58568" y="1463040"/>
            <a:ext cx="1783080" cy="4206240"/>
          </a:xfrm>
          <a:prstGeom prst="rect">
            <a:avLst/>
          </a:prstGeom>
          <a:solidFill>
            <a:srgbClr val="0A1640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04288" y="15544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304288" y="22402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32888" y="3108960"/>
            <a:ext cx="12344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04288" y="320040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May 19–22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May 23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overlap verified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41648" y="3383280"/>
            <a:ext cx="15544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97096" y="1463040"/>
            <a:ext cx="1783080" cy="4206240"/>
          </a:xfrm>
          <a:prstGeom prst="rect">
            <a:avLst/>
          </a:prstGeom>
          <a:solidFill>
            <a:srgbClr val="0A1640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42816" y="15544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242816" y="22402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Train-Only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71416" y="3108960"/>
            <a:ext cx="12344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42816" y="320040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+ mean/std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train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leakage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80176" y="3383280"/>
            <a:ext cx="15544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35624" y="1463040"/>
            <a:ext cx="1783080" cy="4206240"/>
          </a:xfrm>
          <a:prstGeom prst="rect">
            <a:avLst/>
          </a:prstGeom>
          <a:solidFill>
            <a:srgbClr val="0A1640"/>
          </a:solidFill>
          <a:ln w="25400">
            <a:solidFill>
              <a:srgbClr val="E040F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81344" y="15544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181344" y="22402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9944" y="3108960"/>
            <a:ext cx="1234440" cy="4572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320040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SLURM ratios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918704" y="3383280"/>
            <a:ext cx="15544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74152" y="1463040"/>
            <a:ext cx="1783080" cy="4206240"/>
          </a:xfrm>
          <a:prstGeom prst="rect">
            <a:avLst/>
          </a:prstGeom>
          <a:solidFill>
            <a:srgbClr val="0A1640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119872" y="15544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8119872" y="22402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48472" y="3108960"/>
            <a:ext cx="12344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9872" y="320040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slurm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on (node, time)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634 features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857232" y="3383280"/>
            <a:ext cx="15544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12680" y="1463040"/>
            <a:ext cx="1783080" cy="4206240"/>
          </a:xfrm>
          <a:prstGeom prst="rect">
            <a:avLst/>
          </a:prstGeom>
          <a:solidFill>
            <a:srgbClr val="0A1640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058400" y="15544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10058400" y="22402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287000" y="3108960"/>
            <a:ext cx="12344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0" y="320040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+ LOF + AE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cluster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vote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Data Split  —  Key Design Decision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projects shuffle data. We didn't. Here's why that matters.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68680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1828800"/>
            <a:ext cx="18288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(May 19 – 22)  |  4 days  |  Normal behaviour only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(May 23)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23  →  Anomalous Event!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926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~83%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02920" y="37033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Split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 only)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288036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2926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37560" y="37033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(anomalous day)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288036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72200" y="2926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172200" y="37033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(unsupervised — no labels)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61120" y="288036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006840" y="2926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006840" y="37033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Overlap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 manifest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correct for anomaly detection: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learn what NORMAL looks like from train, then flag anything in test that deviates — shuffling would let anomalies pollute the normal baseline and destroy recall.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statistics (IQR, mean, std) computed on train only — zero leakage from test into the model.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modalities × multi-scale transforms → 634 features per node-timestamp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Data Features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windows: 5-min, 15-min, 60-min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Aggregations: mean, std, min, max per window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 differences per (instance, metric)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Pivoted to wide format: 1 row = 1 (node, timestamp)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&gt;30% NaN dropped (warmup period)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0" y="1463040"/>
            <a:ext cx="45720" cy="4754880"/>
          </a:xfrm>
          <a:prstGeom prst="rect">
            <a:avLst/>
          </a:prstGeom>
          <a:solidFill>
            <a:srgbClr val="2A3A6A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417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SLURM Data Features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17920" y="192024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utilization: alloc / total ratio per node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ratio: idle / total CPU ratio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status one-hot: allocated / idle / mixed / down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is_distress_status: binary flag (down/drained/failing)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transition rates across timesteps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" y="5303520"/>
            <a:ext cx="11247120" cy="1234440"/>
          </a:xfrm>
          <a:prstGeom prst="rect">
            <a:avLst/>
          </a:prstGeom>
          <a:solidFill>
            <a:srgbClr val="0A1640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39496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Join:  memory + SLURM joined on (node, timestamp)  →  634 features  |  StandardScaler normalisation  |  Train stats only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 Analysis  —  Statistical Validation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+ ACF / PACF on the train split per (farm, metric)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 &amp; density models assume stable normal-data distribution.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metric drifts in mean/variance, the trained baseline won't generalize.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formalizes this. ACF/PACF reveal lag structure for feature engineering.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ran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5669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test  (null = unit root → non-stationary)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up to lag 50 with 95% confidence band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PACF (Yule-Walker) up to lag 50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farms × 8 metrics  =  40 time series  →  40 plots auto-generated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distribution (35 tested)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92240" y="2286000"/>
            <a:ext cx="2514600" cy="1554480"/>
          </a:xfrm>
          <a:prstGeom prst="rect">
            <a:avLst/>
          </a:prstGeom>
          <a:solidFill>
            <a:srgbClr val="0D1B4B"/>
          </a:solidFill>
          <a:ln w="317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2377440"/>
            <a:ext cx="233172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583680" y="3187598"/>
            <a:ext cx="233172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stationary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&lt; 0.01)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89720" y="2286000"/>
            <a:ext cx="2606040" cy="1554480"/>
          </a:xfrm>
          <a:prstGeom prst="rect">
            <a:avLst/>
          </a:prstGeom>
          <a:solidFill>
            <a:srgbClr val="0D1B4B"/>
          </a:solidFill>
          <a:ln w="317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81160" y="2377440"/>
            <a:ext cx="242316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281160" y="3187598"/>
            <a:ext cx="242316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&lt; 0.05)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92240" y="3977640"/>
            <a:ext cx="2514600" cy="1554480"/>
          </a:xfrm>
          <a:prstGeom prst="rect">
            <a:avLst/>
          </a:prstGeom>
          <a:solidFill>
            <a:srgbClr val="0D1B4B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4069080"/>
            <a:ext cx="233172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583680" y="4879238"/>
            <a:ext cx="233172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(0.05 ≤ p &lt; 0.10)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89720" y="3977640"/>
            <a:ext cx="2606040" cy="1554480"/>
          </a:xfrm>
          <a:prstGeom prst="rect">
            <a:avLst/>
          </a:prstGeom>
          <a:solidFill>
            <a:srgbClr val="0D1B4B"/>
          </a:solidFill>
          <a:ln w="317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81160" y="4069080"/>
            <a:ext cx="242316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9281160" y="4879238"/>
            <a:ext cx="242316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≥ 0.10)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92240" y="5669280"/>
            <a:ext cx="5303520" cy="960120"/>
          </a:xfrm>
          <a:prstGeom prst="rect">
            <a:avLst/>
          </a:prstGeom>
          <a:solidFill>
            <a:srgbClr val="0A164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57607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stationary, zero failures.  Strong ACF at lags 1-5 → empirically justifies the 1/5/15-step lag features.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Isolation Forest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anomaly detection — anomalies are isolated faster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100 random decision trees on the training data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points are isolated in fewer splits (shorter path)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ONLY on normal data (May 19–22)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= 0.01 (assumes ≤1% anomalies in training)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before fitting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model: ~0.004 ms per row — real-time capable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920240"/>
          <a:ext cx="530352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44.2%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32.6%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farm23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00800" y="4800600"/>
            <a:ext cx="5303520" cy="1005840"/>
          </a:xfrm>
          <a:prstGeom prst="rect">
            <a:avLst/>
          </a:prstGeom>
          <a:solidFill>
            <a:srgbClr val="FFF3C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48463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farm19 gets 0% recall — the contamination assumption doesn't match farm19's unique traffic pattern. Fixed with the Autoencoder + Adaptive Thresholding.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Autoencoder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trained to reconstruct normal — fails loudly on anomalies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731520"/>
            <a:ext cx="640080" cy="4937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5760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3172968"/>
            <a:ext cx="228600" cy="54864"/>
          </a:xfrm>
          <a:prstGeom prst="rect">
            <a:avLst/>
          </a:prstGeom>
          <a:solidFill>
            <a:srgbClr val="3A4F8C"/>
          </a:solidFill>
          <a:ln w="12700">
            <a:solidFill>
              <a:srgbClr val="3A4F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348740"/>
            <a:ext cx="640080" cy="3703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51435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65960" y="3172968"/>
            <a:ext cx="228600" cy="54864"/>
          </a:xfrm>
          <a:prstGeom prst="rect">
            <a:avLst/>
          </a:prstGeom>
          <a:solidFill>
            <a:srgbClr val="3A4F8C"/>
          </a:solidFill>
          <a:ln w="12700">
            <a:solidFill>
              <a:srgbClr val="3A4F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1657350"/>
            <a:ext cx="640080" cy="30861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94560" y="483489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34640" y="3172968"/>
            <a:ext cx="228600" cy="54864"/>
          </a:xfrm>
          <a:prstGeom prst="rect">
            <a:avLst/>
          </a:prstGeom>
          <a:solidFill>
            <a:srgbClr val="3A4F8C"/>
          </a:solidFill>
          <a:ln w="12700">
            <a:solidFill>
              <a:srgbClr val="3A4F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3240" y="1863090"/>
            <a:ext cx="640080" cy="267462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63240" y="462915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03320" y="3172968"/>
            <a:ext cx="228600" cy="54864"/>
          </a:xfrm>
          <a:prstGeom prst="rect">
            <a:avLst/>
          </a:prstGeom>
          <a:solidFill>
            <a:srgbClr val="3A4F8C"/>
          </a:solidFill>
          <a:ln w="12700">
            <a:solidFill>
              <a:srgbClr val="3A4F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0" y="1657350"/>
            <a:ext cx="640080" cy="30861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31920" y="483489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3172968"/>
            <a:ext cx="228600" cy="54864"/>
          </a:xfrm>
          <a:prstGeom prst="rect">
            <a:avLst/>
          </a:prstGeom>
          <a:solidFill>
            <a:srgbClr val="3A4F8C"/>
          </a:solidFill>
          <a:ln w="12700">
            <a:solidFill>
              <a:srgbClr val="3A4F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1348740"/>
            <a:ext cx="640080" cy="3703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51435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40680" y="3172968"/>
            <a:ext cx="228600" cy="54864"/>
          </a:xfrm>
          <a:prstGeom prst="rect">
            <a:avLst/>
          </a:prstGeom>
          <a:solidFill>
            <a:srgbClr val="3A4F8C"/>
          </a:solidFill>
          <a:ln w="12700">
            <a:solidFill>
              <a:srgbClr val="3A4F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731520"/>
            <a:ext cx="640080" cy="4937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5760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84048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0" y="1463040"/>
            <a:ext cx="5029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to reconstruct NORMAL inputs with minimal error</a:t>
            </a:r>
            <a:endParaRPr lang="en-US" sz="1700" dirty="0"/>
          </a:p>
          <a:p>
            <a:pPr algn="l"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inputs have high reconstruction error (never seen in training)</a:t>
            </a:r>
            <a:endParaRPr lang="en-US" sz="1700" dirty="0"/>
          </a:p>
          <a:p>
            <a:pPr algn="l"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Nth percentile of training reconstruction errors</a:t>
            </a:r>
            <a:endParaRPr lang="en-US" sz="1700" dirty="0"/>
          </a:p>
          <a:p>
            <a:pPr algn="l"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per cluster: farm14/16/18/23 → 99th pct | farm19 → 85th pct</a:t>
            </a:r>
            <a:endParaRPr lang="en-US" sz="1700" dirty="0"/>
          </a:p>
          <a:p>
            <a:pPr algn="l"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~0.01 ms inference latency — real-time deployable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Denoising Autoencoder  (farm14)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drift was silently destroying accuracy — we fixed it without new data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303520" cy="2377440"/>
          </a:xfrm>
          <a:prstGeom prst="rect">
            <a:avLst/>
          </a:prstGeom>
          <a:solidFill>
            <a:srgbClr val="FFF0F0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farm14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farm14's memory sensors exhibit gradual drift — small, systematic biases accumulate over time. A standard autoencoder trained on early normal data would see later normal states as slightly anomalous, destroying precision and recall.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977640"/>
            <a:ext cx="5303520" cy="2560320"/>
          </a:xfrm>
          <a:prstGeom prst="rect">
            <a:avLst/>
          </a:prstGeom>
          <a:solidFill>
            <a:srgbClr val="F0FF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069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Denoising AE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training, we inject small Gaussian noise (σ=0.01) into the INPUT but train the model to reconstruct the CLEAN original. This forces the model to learn robust representations that ignore small perturbations — generalising across sensor drift naturally.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2560320" cy="2560320"/>
          </a:xfrm>
          <a:prstGeom prst="rect">
            <a:avLst/>
          </a:prstGeom>
          <a:solidFill>
            <a:srgbClr val="0D1B4B"/>
          </a:solidFill>
          <a:ln w="317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554480"/>
            <a:ext cx="2377440" cy="14081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92240" y="2948026"/>
            <a:ext cx="2377440" cy="9729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BEFORE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AE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235440" y="1463040"/>
            <a:ext cx="2560320" cy="2560320"/>
          </a:xfrm>
          <a:prstGeom prst="rect">
            <a:avLst/>
          </a:prstGeom>
          <a:solidFill>
            <a:srgbClr val="0D1B4B"/>
          </a:solidFill>
          <a:ln w="317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0" y="1554480"/>
            <a:ext cx="2377440" cy="14081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99.0%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326880" y="2948026"/>
            <a:ext cx="2377440" cy="9729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AFTER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AE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41605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+20.8 percentage points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53492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ONLY to farm14 — other farms use standard AE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Adaptive Thresholding  (farm19)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threshold doesn't fit all — cluster-aware calibration saves recall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463040"/>
          <a:ext cx="64008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132320" y="14630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132320" y="19202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farm19 has different hardware characteristics. Using the same 99th-percentile threshold as other farms gave only 6.7% recall — almost completely missing the anomalous event.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32320" y="34290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132320" y="38862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Per-cluster adaptive threshold calibration. farm19 uses the 85th percentile (instead of 99th) of training reconstruction errors, which matches its hardware's normal variance profile.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132320" y="5394960"/>
            <a:ext cx="4663440" cy="731520"/>
          </a:xfrm>
          <a:prstGeom prst="rect">
            <a:avLst/>
          </a:prstGeom>
          <a:solidFill>
            <a:srgbClr val="0A164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0" y="53949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  →  100% Recall  on farm19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3: Local Outlier Factor + PCA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detection — but high dimensions needed fixing first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91440" cy="2286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 of Dimensionality Problem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computes local density by comparing distances to k nearest neighbours. In 634-dimensional space, all points appear equidistant — LOF loses its discriminative power entirely. Raw LOF was underperforming on farm19.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886200"/>
            <a:ext cx="5303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3886200"/>
            <a:ext cx="91440" cy="2651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Fix: PCA Dimensionality Reduction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434340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apply PCA (retaining 95% of variance) BEFORE LOF. This compresses 634 features down to ~30–80 principal components while preserving the key signal — restoring LOF's ability to distinguish normal from anomalous density regions.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1463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Performance Improvement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920240"/>
          <a:ext cx="5486400" cy="237744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0116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LOF Recall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PCA+LOF Recall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217920" y="4434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 = 20  |  novelty = True  |  contamination = 0.01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17920" y="4937760"/>
            <a:ext cx="2560320" cy="1554480"/>
          </a:xfrm>
          <a:prstGeom prst="rect">
            <a:avLst/>
          </a:prstGeom>
          <a:solidFill>
            <a:srgbClr val="0D1B4B"/>
          </a:solidFill>
          <a:ln w="317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09360" y="5029200"/>
            <a:ext cx="237744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6309360" y="5839358"/>
            <a:ext cx="237744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retained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PCA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961120" y="4937760"/>
            <a:ext cx="2560320" cy="1554480"/>
          </a:xfrm>
          <a:prstGeom prst="rect">
            <a:avLst/>
          </a:prstGeom>
          <a:solidFill>
            <a:srgbClr val="0D1B4B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052560" y="5029200"/>
            <a:ext cx="237744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</a:t>
            </a:r>
            <a:endParaRPr lang="en-US" sz="4400" dirty="0"/>
          </a:p>
        </p:txBody>
      </p:sp>
      <p:sp>
        <p:nvSpPr>
          <p:cNvPr id="22" name="Text 19"/>
          <p:cNvSpPr/>
          <p:nvPr/>
        </p:nvSpPr>
        <p:spPr>
          <a:xfrm>
            <a:off x="9052560" y="5839358"/>
            <a:ext cx="237744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after PCA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634)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Model Performance Across All Farms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leads on recall — evaluated against proxy distress-status labels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1148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645920"/>
                <a:gridCol w="1645920"/>
                <a:gridCol w="1737360"/>
                <a:gridCol w="15544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Distress Rows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Recall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LOF Recall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 Recall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 Latency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44.2%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99.0% 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99.4% 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32.6%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farm19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farm23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4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580644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7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Best result for that farm   |   AE = Autoencoder (best model overall)   |   Latency ~0.01 ms = real-time capable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 at a Glance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474720" cy="2377440"/>
          </a:xfrm>
          <a:prstGeom prst="rect">
            <a:avLst/>
          </a:prstGeom>
          <a:solidFill>
            <a:srgbClr val="0D1B4B"/>
          </a:solidFill>
          <a:ln w="317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3291840" cy="1307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99–100%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796235"/>
            <a:ext cx="3291840" cy="9034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across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farm14, 16, 18, 19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69080" y="1417320"/>
            <a:ext cx="3474720" cy="2377440"/>
          </a:xfrm>
          <a:prstGeom prst="rect">
            <a:avLst/>
          </a:prstGeom>
          <a:solidFill>
            <a:srgbClr val="0D1B4B"/>
          </a:solidFill>
          <a:ln w="317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60520" y="1508760"/>
            <a:ext cx="3291840" cy="1307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~0.01 ms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160520" y="2796235"/>
            <a:ext cx="3291840" cy="9034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row (real-time)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0" y="1417320"/>
            <a:ext cx="3474720" cy="2377440"/>
          </a:xfrm>
          <a:prstGeom prst="rect">
            <a:avLst/>
          </a:prstGeom>
          <a:solidFill>
            <a:srgbClr val="0D1B4B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63840" y="1508760"/>
            <a:ext cx="3291840" cy="1307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GB+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863840" y="2796235"/>
            <a:ext cx="3291840" cy="9034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3474720" cy="2377440"/>
          </a:xfrm>
          <a:prstGeom prst="rect">
            <a:avLst/>
          </a:prstGeom>
          <a:solidFill>
            <a:srgbClr val="0D1B4B"/>
          </a:solidFill>
          <a:ln w="31750">
            <a:solidFill>
              <a:srgbClr val="E040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069080"/>
            <a:ext cx="3291840" cy="1307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634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57200" y="5356555"/>
            <a:ext cx="3291840" cy="9034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engineered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join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069080" y="3977640"/>
            <a:ext cx="3474720" cy="2377440"/>
          </a:xfrm>
          <a:prstGeom prst="rect">
            <a:avLst/>
          </a:prstGeom>
          <a:solidFill>
            <a:srgbClr val="0D1B4B"/>
          </a:solidFill>
          <a:ln w="317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60520" y="4069080"/>
            <a:ext cx="3291840" cy="1307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160520" y="5356555"/>
            <a:ext cx="3291840" cy="9034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saved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0" y="3977640"/>
            <a:ext cx="3474720" cy="2377440"/>
          </a:xfrm>
          <a:prstGeom prst="rect">
            <a:avLst/>
          </a:prstGeom>
          <a:solidFill>
            <a:srgbClr val="0D1B4B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63840" y="4069080"/>
            <a:ext cx="3291840" cy="1307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7863840" y="5356555"/>
            <a:ext cx="3291840" cy="9034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labels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(fully unsupervised)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Differently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design decisions that separate this from a standard ML project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3749040" cy="2286000"/>
          </a:xfrm>
          <a:prstGeom prst="rect">
            <a:avLst/>
          </a:prstGeom>
          <a:solidFill>
            <a:srgbClr val="0A1640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37490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Anomaly-Detection-Aware Split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projects shuffle. We used a strict chronological split — normal data in train, anomalous day in test. Shuffling would poison the normal baseline.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749040" cy="2286000"/>
          </a:xfrm>
          <a:prstGeom prst="rect">
            <a:avLst/>
          </a:prstGeom>
          <a:solidFill>
            <a:srgbClr val="0A1640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554480"/>
            <a:ext cx="37490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691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Per-Cluster Adaptive Thresholds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34840" y="2240280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global threshold failed farm19 (6.7% recall). We calibrated the threshold per hardware cluster, recovering 100% recall.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1554480"/>
            <a:ext cx="3749040" cy="2286000"/>
          </a:xfrm>
          <a:prstGeom prst="rect">
            <a:avLst/>
          </a:prstGeom>
          <a:solidFill>
            <a:srgbClr val="0A1640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554480"/>
            <a:ext cx="374904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691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Autoencoder for Sensor Drift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240280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farm14's sensor drift problem and solved it by training the AE on noisy input → clean output, without any new data.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3749040" cy="2286000"/>
          </a:xfrm>
          <a:prstGeom prst="rect">
            <a:avLst/>
          </a:prstGeom>
          <a:solidFill>
            <a:srgbClr val="0A1640"/>
          </a:solidFill>
          <a:ln w="25400">
            <a:solidFill>
              <a:srgbClr val="E040F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4023360"/>
            <a:ext cx="3749040" cy="9144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60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before LOF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4709160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degrades badly in high dimensions (634 features). We compress with PCA (95% variance) before LOF, restoring its density-based discriminative power.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97680" y="4023360"/>
            <a:ext cx="3749040" cy="2286000"/>
          </a:xfrm>
          <a:prstGeom prst="rect">
            <a:avLst/>
          </a:prstGeom>
          <a:solidFill>
            <a:srgbClr val="0A1640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0" y="4023360"/>
            <a:ext cx="37490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4160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Feature Join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34840" y="4709160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memory metrics and SLURM scheduler data on (node, timestamp). Neither modality alone is sufficient.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0" y="4023360"/>
            <a:ext cx="3749040" cy="2286000"/>
          </a:xfrm>
          <a:prstGeom prst="rect">
            <a:avLst/>
          </a:prstGeom>
          <a:solidFill>
            <a:srgbClr val="0A1640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4023360"/>
            <a:ext cx="37490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4160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Voting (3 Models)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66760" y="4709160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picking one model, all 3 run in parallel. A majority vote (2/3 agree) improves precision without sacrificing recall.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encountered during the project — and how we solved them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1430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08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GB+ Dataset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200400" y="1554480"/>
            <a:ext cx="45720" cy="96012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5087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Standard pandas loading crashed RAM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0" y="1554480"/>
            <a:ext cx="45720" cy="96012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5087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Chunk-based decompression with 250K-row batches. Parquet intermediate format for O(1) filtered reads.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11430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788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Ground-Truth Labels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200400" y="2834640"/>
            <a:ext cx="45720" cy="96012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Can't measure recall without knowing which rows are anomalous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0" y="2834640"/>
            <a:ext cx="45720" cy="96012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278892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Used SLURM distress-status column (down/drained/failing) as proxy labels for evaluation only — not for training.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11430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farm19: 6.7% Recall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200400" y="4114800"/>
            <a:ext cx="45720" cy="96012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40690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Fixed 99th-percentile threshold completely missed farm19's anomaly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32320" y="4114800"/>
            <a:ext cx="45720" cy="96012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40690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Analysed train reconstruction error distribution per cluster. Applied adaptive 85th-percentile threshold for farm19.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5303520"/>
            <a:ext cx="11430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5349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farm14: Sensor Drift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200400" y="5394960"/>
            <a:ext cx="45720" cy="96012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53492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Normal data in later days looked anomalous due to gradual drift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132320" y="5394960"/>
            <a:ext cx="45720" cy="96012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534924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Denoising Autoencoder — inject noise into input, train to reconstruct clean version. Model learns to ignore drift.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Streamlit Dashboard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demonstration of the complete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3703320" cy="4800600"/>
          </a:xfrm>
          <a:prstGeom prst="rect">
            <a:avLst/>
          </a:prstGeom>
          <a:solidFill>
            <a:srgbClr val="0A1640"/>
          </a:solidFill>
          <a:ln w="317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370332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2608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/ Precision / F1 for all 3 models across 5 farms. Precision vs Recall scatter. Latency &amp; robustness charts.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97680" y="1600200"/>
            <a:ext cx="3703320" cy="4800600"/>
          </a:xfrm>
          <a:prstGeom prst="rect">
            <a:avLst/>
          </a:prstGeom>
          <a:solidFill>
            <a:srgbClr val="0A1640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600200"/>
            <a:ext cx="370332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21488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Scores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434840" y="2788920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92608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reconstruction error per hour from May 19–23. Red band marks the anomalous event. Node-level heatmap of top-30 affected nodes.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0" y="1600200"/>
            <a:ext cx="3703320" cy="4800600"/>
          </a:xfrm>
          <a:prstGeom prst="rect">
            <a:avLst/>
          </a:prstGeom>
          <a:solidFill>
            <a:srgbClr val="0A1640"/>
          </a:solidFill>
          <a:ln w="317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0" y="1600200"/>
            <a:ext cx="370332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21488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Anomaly Playground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366760" y="2788920"/>
            <a:ext cx="27432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292608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synthetic faults in real-time using sliders: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spike | Memory leak | I/O thrash | Job flood | Sensor noise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AE and IF respond instantly.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Future Work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 analysis ✓  →  Final report + presentation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74904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37490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02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(Current Milestone)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3474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Finalise model evaluation report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project documentation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Polish and submit final report to Samsung PRISM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374904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463040"/>
            <a:ext cx="37490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6002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Improvements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0560" y="2286000"/>
            <a:ext cx="3474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LSTM-Autoencoder for temporal anomaly detection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Streaming pipeline for real-time cluster monitoring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Ensemble voting in production deployment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1463040"/>
            <a:ext cx="374904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40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463040"/>
            <a:ext cx="3749040" cy="9144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6002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Directions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2286000"/>
            <a:ext cx="3474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Graph Neural Networks to model inter-node dependencies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Transfer learning across hardware farms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Anomaly explanation with SHAP feature importance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686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unsupervised anomaly detection pipeline that:</a:t>
            </a:r>
            <a:endParaRPr lang="en-US" sz="1900" dirty="0"/>
          </a:p>
          <a:p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Processes 180 GB+ of raw Prometheus metrics with zero manual labelling</a:t>
            </a:r>
            <a:endParaRPr lang="en-US" sz="1900" dirty="0"/>
          </a:p>
          <a:p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Achieves 99–100% recall across all hardware farms with ~0.01 ms inference</a:t>
            </a:r>
            <a:endParaRPr lang="en-US" sz="1900" dirty="0"/>
          </a:p>
          <a:p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Introduces three novel adaptations: Denoising AE, Adaptive Thresholds, PCA+LOF</a:t>
            </a:r>
            <a:endParaRPr lang="en-US" sz="1900" dirty="0"/>
          </a:p>
          <a:p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Combines memory and SLURM modalities into 634 per-node features</a:t>
            </a:r>
            <a:endParaRPr lang="en-US" sz="1900" dirty="0"/>
          </a:p>
          <a:p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Runs as a live interactive demo — Results, Time-Series, and Fault Playground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326880" y="365760"/>
            <a:ext cx="2560320" cy="6126480"/>
          </a:xfrm>
          <a:prstGeom prst="rect">
            <a:avLst/>
          </a:prstGeom>
          <a:solidFill>
            <a:srgbClr val="0A1640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0" y="502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99–100%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418320" y="1097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0" y="1691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~0.01ms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41832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18320" y="2880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418320" y="3474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418320" y="4069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418320" y="4663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+Ensemble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18320" y="5257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GB+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418320" y="5852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2179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CrossLayerAI-RAN  |  Samsung PRISM  |  B.M.S. College of Engineering  |  2025–26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CrossLayerAI-RAN: Samsung PRISM</dc:title>
  <dc:subject>PptxGenJS Presentation</dc:subject>
  <dc:creator>PptxGenJS</dc:creator>
  <cp:lastModifiedBy>PptxGenJS</cp:lastModifiedBy>
  <cp:revision>1</cp:revision>
  <dcterms:created xsi:type="dcterms:W3CDTF">2026-06-04T03:47:31Z</dcterms:created>
  <dcterms:modified xsi:type="dcterms:W3CDTF">2026-06-04T03:47:31Z</dcterms:modified>
</cp:coreProperties>
</file>